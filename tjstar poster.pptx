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21945600" cx="32918400"/>
  <p:notesSz cx="31235650" cy="211264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747775"/>
          </p15:clr>
        </p15:guide>
      </p15:sldGuideLst>
    </p:ext>
    <p:ext uri="GoogleSlidesCustomDataVersion2">
      <go:slidesCustomData xmlns:go="http://customooxmlschemas.google.com/" r:id="rId7" roundtripDataSignature="AMtx7miVxpYd9zSCz9JC5T+PfDo90UMJ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123550" y="10035050"/>
            <a:ext cx="24988500" cy="95069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0b0f9e073_0_2:notes"/>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p:spPr>
      </p:sp>
      <p:sp>
        <p:nvSpPr>
          <p:cNvPr id="54" name="Google Shape;54;g3d0b0f9e073_0_2:notes"/>
          <p:cNvSpPr txBox="1"/>
          <p:nvPr>
            <p:ph idx="1" type="body"/>
          </p:nvPr>
        </p:nvSpPr>
        <p:spPr>
          <a:xfrm>
            <a:off x="3123550" y="10035050"/>
            <a:ext cx="24988500" cy="95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 name="Google Shape;11;p4"/>
          <p:cNvSpPr txBox="1"/>
          <p:nvPr>
            <p:ph idx="1" type="subTitle"/>
          </p:nvPr>
        </p:nvSpPr>
        <p:spPr>
          <a:xfrm>
            <a:off x="1645920" y="5135040"/>
            <a:ext cx="28966680" cy="127285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 name="Shape 12"/>
        <p:cNvGrpSpPr/>
        <p:nvPr/>
      </p:nvGrpSpPr>
      <p:grpSpPr>
        <a:xfrm>
          <a:off x="0" y="0"/>
          <a:ext cx="0" cy="0"/>
          <a:chOff x="0" y="0"/>
          <a:chExt cx="0" cy="0"/>
        </a:xfrm>
      </p:grpSpPr>
      <p:sp>
        <p:nvSpPr>
          <p:cNvPr id="13" name="Google Shape;13;p5"/>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 name="Shape 15"/>
        <p:cNvGrpSpPr/>
        <p:nvPr/>
      </p:nvGrpSpPr>
      <p:grpSpPr>
        <a:xfrm>
          <a:off x="0" y="0"/>
          <a:ext cx="0" cy="0"/>
          <a:chOff x="0" y="0"/>
          <a:chExt cx="0" cy="0"/>
        </a:xfrm>
      </p:grpSpPr>
      <p:sp>
        <p:nvSpPr>
          <p:cNvPr id="16" name="Google Shape;16;p6"/>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6"/>
          <p:cNvSpPr txBox="1"/>
          <p:nvPr>
            <p:ph idx="2"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 name="Shape 21"/>
        <p:cNvGrpSpPr/>
        <p:nvPr/>
      </p:nvGrpSpPr>
      <p:grpSpPr>
        <a:xfrm>
          <a:off x="0" y="0"/>
          <a:ext cx="0" cy="0"/>
          <a:chOff x="0" y="0"/>
          <a:chExt cx="0" cy="0"/>
        </a:xfrm>
      </p:grpSpPr>
      <p:sp>
        <p:nvSpPr>
          <p:cNvPr id="22" name="Google Shape;22;p8"/>
          <p:cNvSpPr txBox="1"/>
          <p:nvPr>
            <p:ph idx="1" type="subTitle"/>
          </p:nvPr>
        </p:nvSpPr>
        <p:spPr>
          <a:xfrm>
            <a:off x="1645920" y="874080"/>
            <a:ext cx="29625120" cy="169891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9"/>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9"/>
          <p:cNvSpPr txBox="1"/>
          <p:nvPr>
            <p:ph idx="2"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9"/>
          <p:cNvSpPr txBox="1"/>
          <p:nvPr>
            <p:ph idx="3"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10"/>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10"/>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10"/>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11"/>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11"/>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11"/>
          <p:cNvSpPr txBox="1"/>
          <p:nvPr>
            <p:ph idx="3" type="body"/>
          </p:nvPr>
        </p:nvSpPr>
        <p:spPr>
          <a:xfrm>
            <a:off x="1645920" y="11783160"/>
            <a:ext cx="2896632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8" name="Shape 38"/>
        <p:cNvGrpSpPr/>
        <p:nvPr/>
      </p:nvGrpSpPr>
      <p:grpSpPr>
        <a:xfrm>
          <a:off x="0" y="0"/>
          <a:ext cx="0" cy="0"/>
          <a:chOff x="0" y="0"/>
          <a:chExt cx="0" cy="0"/>
        </a:xfrm>
      </p:grpSpPr>
      <p:sp>
        <p:nvSpPr>
          <p:cNvPr id="39" name="Google Shape;39;p12"/>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 type="body"/>
          </p:nvPr>
        </p:nvSpPr>
        <p:spPr>
          <a:xfrm>
            <a:off x="1645920" y="5135040"/>
            <a:ext cx="2896668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2"/>
          <p:cNvSpPr txBox="1"/>
          <p:nvPr>
            <p:ph idx="2" type="body"/>
          </p:nvPr>
        </p:nvSpPr>
        <p:spPr>
          <a:xfrm>
            <a:off x="1645920" y="11783160"/>
            <a:ext cx="2896668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 name="Shape 42"/>
        <p:cNvGrpSpPr/>
        <p:nvPr/>
      </p:nvGrpSpPr>
      <p:grpSpPr>
        <a:xfrm>
          <a:off x="0" y="0"/>
          <a:ext cx="0" cy="0"/>
          <a:chOff x="0" y="0"/>
          <a:chExt cx="0" cy="0"/>
        </a:xfrm>
      </p:grpSpPr>
      <p:sp>
        <p:nvSpPr>
          <p:cNvPr id="43" name="Google Shape;43;p13"/>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3"/>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3"/>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3"/>
          <p:cNvSpPr txBox="1"/>
          <p:nvPr>
            <p:ph idx="4"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 name="Shape 48"/>
        <p:cNvGrpSpPr/>
        <p:nvPr/>
      </p:nvGrpSpPr>
      <p:grpSpPr>
        <a:xfrm>
          <a:off x="0" y="0"/>
          <a:ext cx="0" cy="0"/>
          <a:chOff x="0" y="0"/>
          <a:chExt cx="0" cy="0"/>
        </a:xfrm>
      </p:grpSpPr>
      <p:sp>
        <p:nvSpPr>
          <p:cNvPr id="49" name="Google Shape;49;p1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4"/>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2"/>
          <p:cNvSpPr txBox="1"/>
          <p:nvPr>
            <p:ph type="title"/>
          </p:nvPr>
        </p:nvSpPr>
        <p:spPr>
          <a:xfrm>
            <a:off x="1645920" y="874080"/>
            <a:ext cx="29625120" cy="36637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2"/>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jp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g3d0b0f9e073_0_2"/>
          <p:cNvSpPr/>
          <p:nvPr/>
        </p:nvSpPr>
        <p:spPr>
          <a:xfrm>
            <a:off x="927525" y="583650"/>
            <a:ext cx="31114500" cy="2749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4400"/>
              <a:t>Modeling Crime-Solving with LLMs via Structured Knowledge Representations and Fine-Tuning</a:t>
            </a:r>
            <a:endParaRPr b="1" i="1" sz="4400"/>
          </a:p>
          <a:p>
            <a:pPr indent="0" lvl="0" marL="0" rtl="0" algn="ctr">
              <a:spcBef>
                <a:spcPts val="0"/>
              </a:spcBef>
              <a:spcAft>
                <a:spcPts val="0"/>
              </a:spcAft>
              <a:buNone/>
            </a:pPr>
            <a:r>
              <a:rPr lang="en-US" sz="4000"/>
              <a:t>Viola Pande and Aditya Khandelwal | Gabor SysLab 2026</a:t>
            </a:r>
            <a:endParaRPr sz="4000"/>
          </a:p>
        </p:txBody>
      </p:sp>
      <p:sp>
        <p:nvSpPr>
          <p:cNvPr id="57" name="Google Shape;57;g3d0b0f9e073_0_2"/>
          <p:cNvSpPr/>
          <p:nvPr/>
        </p:nvSpPr>
        <p:spPr>
          <a:xfrm>
            <a:off x="927526" y="3691275"/>
            <a:ext cx="10333500" cy="115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5400">
                <a:solidFill>
                  <a:schemeClr val="accent4"/>
                </a:solidFill>
              </a:rPr>
              <a:t>Introduction</a:t>
            </a:r>
            <a:endParaRPr b="0" i="0" sz="1800" u="none" cap="none" strike="noStrike">
              <a:solidFill>
                <a:schemeClr val="accent4"/>
              </a:solidFill>
            </a:endParaRPr>
          </a:p>
        </p:txBody>
      </p:sp>
      <p:sp>
        <p:nvSpPr>
          <p:cNvPr id="58" name="Google Shape;58;g3d0b0f9e073_0_2"/>
          <p:cNvSpPr/>
          <p:nvPr/>
        </p:nvSpPr>
        <p:spPr>
          <a:xfrm>
            <a:off x="21378825" y="3691275"/>
            <a:ext cx="10663200" cy="115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5400">
                <a:solidFill>
                  <a:schemeClr val="accent4"/>
                </a:solidFill>
              </a:rPr>
              <a:t>Results</a:t>
            </a:r>
            <a:endParaRPr b="0" i="0" sz="1800" u="none" cap="none" strike="noStrike">
              <a:solidFill>
                <a:schemeClr val="accent4"/>
              </a:solidFill>
            </a:endParaRPr>
          </a:p>
        </p:txBody>
      </p:sp>
      <p:sp>
        <p:nvSpPr>
          <p:cNvPr id="59" name="Google Shape;59;g3d0b0f9e073_0_2"/>
          <p:cNvSpPr/>
          <p:nvPr/>
        </p:nvSpPr>
        <p:spPr>
          <a:xfrm>
            <a:off x="927524" y="11153850"/>
            <a:ext cx="10032000" cy="115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5400">
                <a:solidFill>
                  <a:schemeClr val="accent4"/>
                </a:solidFill>
              </a:rPr>
              <a:t>Methods</a:t>
            </a:r>
            <a:endParaRPr b="0" i="0" sz="1800" u="none" cap="none" strike="noStrike">
              <a:solidFill>
                <a:schemeClr val="accent4"/>
              </a:solidFill>
            </a:endParaRPr>
          </a:p>
        </p:txBody>
      </p:sp>
      <p:sp>
        <p:nvSpPr>
          <p:cNvPr id="60" name="Google Shape;60;g3d0b0f9e073_0_2"/>
          <p:cNvSpPr/>
          <p:nvPr/>
        </p:nvSpPr>
        <p:spPr>
          <a:xfrm>
            <a:off x="21339292" y="15769407"/>
            <a:ext cx="10333500" cy="115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5400">
                <a:solidFill>
                  <a:schemeClr val="accent4"/>
                </a:solidFill>
              </a:rPr>
              <a:t>Conclusion</a:t>
            </a:r>
            <a:endParaRPr b="0" i="0" sz="1800" u="none" cap="none" strike="noStrike">
              <a:solidFill>
                <a:schemeClr val="accent4"/>
              </a:solidFill>
            </a:endParaRPr>
          </a:p>
        </p:txBody>
      </p:sp>
      <p:sp>
        <p:nvSpPr>
          <p:cNvPr id="61" name="Google Shape;61;g3d0b0f9e073_0_2"/>
          <p:cNvSpPr txBox="1"/>
          <p:nvPr/>
        </p:nvSpPr>
        <p:spPr>
          <a:xfrm>
            <a:off x="927525" y="4914700"/>
            <a:ext cx="10521000" cy="4871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t>Large Language Models (LLMs) have demonstrated an impressive capability to process vast amounts of textual data. However, when confronted with complex, multi-layered problem-solving tasks — such as criminal investigations — the reasoning cap acity of a baseline LLM is often constrained by how information is contextualized. This study investigates how organizing data into different </a:t>
            </a:r>
            <a:r>
              <a:rPr lang="en-US" sz="2500"/>
              <a:t>structures </a:t>
            </a:r>
            <a:r>
              <a:rPr lang="en-US" sz="2500"/>
              <a:t>affects an LLM's capacity to </a:t>
            </a:r>
            <a:r>
              <a:rPr lang="en-US" sz="2500"/>
              <a:t>critically</a:t>
            </a:r>
            <a:r>
              <a:rPr lang="en-US" sz="2500"/>
              <a:t> reason through and solve crime cases</a:t>
            </a:r>
            <a:r>
              <a:rPr lang="en-US" sz="2500"/>
              <a:t>. </a:t>
            </a:r>
            <a:r>
              <a:rPr lang="en-US" sz="2500"/>
              <a:t>By mapping facts to knowledge and temporal graphs, this research evaluates whether explicit structural relational links can guide an agent toward more accurate anomaly detection and postulations. </a:t>
            </a:r>
            <a:endParaRPr sz="2500"/>
          </a:p>
        </p:txBody>
      </p:sp>
      <p:sp>
        <p:nvSpPr>
          <p:cNvPr id="62" name="Google Shape;62;g3d0b0f9e073_0_2"/>
          <p:cNvSpPr txBox="1"/>
          <p:nvPr/>
        </p:nvSpPr>
        <p:spPr>
          <a:xfrm>
            <a:off x="21381475" y="16927407"/>
            <a:ext cx="10663200" cy="458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t>This research demonstrates that an AI system's reasoning performance is highly sensitive not just to the volume of information it receives, but to the structure that information is stored within. Additionally, time-based evidence seems to be more effective than ontological evidence in catalyzing multi-step problem-solving by large language models. Extensive graph representations can occasionally hinder global reasoning due to overfitting or complex indirect implications. Ultimately, combining the temporal and knowledge graphs, complete with fine-tuning, proved to be the most viable solution, yielding substantial gains in both accuracy and postulation confidence. Future work could expand beyond textual evidence and into photographic and videographic material, ultimately broadening both the scope and realism of this project.</a:t>
            </a:r>
            <a:endParaRPr sz="2500"/>
          </a:p>
        </p:txBody>
      </p:sp>
      <p:sp>
        <p:nvSpPr>
          <p:cNvPr id="63" name="Google Shape;63;g3d0b0f9e073_0_2"/>
          <p:cNvSpPr txBox="1"/>
          <p:nvPr/>
        </p:nvSpPr>
        <p:spPr>
          <a:xfrm>
            <a:off x="927525" y="12311850"/>
            <a:ext cx="10521000" cy="718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solidFill>
                  <a:schemeClr val="dk1"/>
                </a:solidFill>
              </a:rPr>
              <a:t>This study utilized a dataset of 24 multidisciplinary crime scenarios accompanied by solution keys, either generated or synthesized by AI.  For the baseline and experimental trials, an internal LLM extracted entities, timestamps, and evidence from raw case text, which were then mapped into Neo4j to generate JSON-formatted knowledge graphs (containing nodes like objects, locations, and facts) and temporal graphs (detailing events and timestamps). LLM agents were then prompted to critically solve the 24 test cases under four conditions: using the raw baseline text, the text with a temporal graph, the text with a knowledge graph, and finally, using both of the graphs together. Finally, the combined graph model was fine-tuned to better reason across the knowledge structures. </a:t>
            </a:r>
            <a:r>
              <a:rPr lang="en-US" sz="2500">
                <a:solidFill>
                  <a:schemeClr val="dk1"/>
                </a:solidFill>
              </a:rPr>
              <a:t>For training purposes, the original repository was expanded to 80 cases and split into a 70/30 distribution for training and testing. A gemini-2.5-flash model was tuned on s</a:t>
            </a:r>
            <a:r>
              <a:rPr lang="en-US" sz="2500">
                <a:solidFill>
                  <a:schemeClr val="dk1"/>
                </a:solidFill>
              </a:rPr>
              <a:t>tep-by-step reasoning chains detailing means, motive, opportunity, and timeline consistency, using 4 epochs and a learning rate multiplier of 1. Final outputs by each model consisted of a top suspect as well as a self-assessed confidence level by the model from 0 to 1. </a:t>
            </a:r>
            <a:endParaRPr sz="2500"/>
          </a:p>
        </p:txBody>
      </p:sp>
      <p:sp>
        <p:nvSpPr>
          <p:cNvPr id="64" name="Google Shape;64;g3d0b0f9e073_0_2"/>
          <p:cNvSpPr txBox="1"/>
          <p:nvPr/>
        </p:nvSpPr>
        <p:spPr>
          <a:xfrm>
            <a:off x="21378825" y="4864150"/>
            <a:ext cx="10663200" cy="6289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500"/>
              <a:t>Evaluation of the 24 test cases across the different knowledge structures yielded varying levels of accuracy. Supplementing the raw baseline LLM (which achieved a 79.2% accuracy rate) with a temporal graph increased accuracy to 81.3%, with a superior capacity to recognize temporal contradictions. The standalone knowledge graph </a:t>
            </a:r>
            <a:r>
              <a:rPr lang="en-US" sz="2500"/>
              <a:t>achieved</a:t>
            </a:r>
            <a:r>
              <a:rPr lang="en-US" sz="2500"/>
              <a:t> an accuracy of only 75.0%, struggling with making connections across longer timelines and multiple entities. In addition, the temporal graph configuration was generally the most confident, achieving an average confidence level of 90.8%, as opposed to the knowledge graph LLM (86.0%) and the raw LLM (89.4%). The combined graph only performed as well as its weakest component, earning an accuracy of 75.0%, as well. Both graphs struggled with the deeper, global synthesis required to spot hidden intent or deception. The fine-tuned gemini-2.5-flash model, however, demonstrated substantial improvements. It concluded training with an 81.2% accuracy rate and achieved a 90.0% accuracy on general testing. When applied directly to the 24 complex test cases, the fine-tuned model achieved an 89.6% accuracy rate accompanied by a high self-assessed confidence level of 91.0%, while maintaining a validation loss of 1.29 and a testing loss of 1.43. </a:t>
            </a:r>
            <a:endParaRPr sz="2500"/>
          </a:p>
        </p:txBody>
      </p:sp>
      <p:pic>
        <p:nvPicPr>
          <p:cNvPr id="65" name="Google Shape;65;g3d0b0f9e073_0_2"/>
          <p:cNvPicPr preferRelativeResize="0"/>
          <p:nvPr/>
        </p:nvPicPr>
        <p:blipFill rotWithShape="1">
          <a:blip r:embed="rId3">
            <a:alphaModFix/>
          </a:blip>
          <a:srcRect b="0" l="0" r="0" t="0"/>
          <a:stretch/>
        </p:blipFill>
        <p:spPr>
          <a:xfrm>
            <a:off x="29575351" y="894999"/>
            <a:ext cx="2127100" cy="2127100"/>
          </a:xfrm>
          <a:prstGeom prst="rect">
            <a:avLst/>
          </a:prstGeom>
          <a:noFill/>
          <a:ln>
            <a:noFill/>
          </a:ln>
        </p:spPr>
      </p:pic>
      <p:pic>
        <p:nvPicPr>
          <p:cNvPr id="66" name="Google Shape;66;g3d0b0f9e073_0_2"/>
          <p:cNvPicPr preferRelativeResize="0"/>
          <p:nvPr/>
        </p:nvPicPr>
        <p:blipFill rotWithShape="1">
          <a:blip r:embed="rId3">
            <a:alphaModFix/>
          </a:blip>
          <a:srcRect b="0" l="0" r="0" t="0"/>
          <a:stretch/>
        </p:blipFill>
        <p:spPr>
          <a:xfrm>
            <a:off x="1301101" y="894999"/>
            <a:ext cx="2127100" cy="2127100"/>
          </a:xfrm>
          <a:prstGeom prst="rect">
            <a:avLst/>
          </a:prstGeom>
          <a:noFill/>
          <a:ln>
            <a:noFill/>
          </a:ln>
        </p:spPr>
      </p:pic>
      <p:pic>
        <p:nvPicPr>
          <p:cNvPr id="67" name="Google Shape;67;g3d0b0f9e073_0_2" title="visualisation1.png"/>
          <p:cNvPicPr preferRelativeResize="0"/>
          <p:nvPr/>
        </p:nvPicPr>
        <p:blipFill>
          <a:blip r:embed="rId4">
            <a:alphaModFix/>
          </a:blip>
          <a:stretch>
            <a:fillRect/>
          </a:stretch>
        </p:blipFill>
        <p:spPr>
          <a:xfrm>
            <a:off x="12220142" y="3867800"/>
            <a:ext cx="8529227" cy="5559622"/>
          </a:xfrm>
          <a:prstGeom prst="rect">
            <a:avLst/>
          </a:prstGeom>
          <a:noFill/>
          <a:ln>
            <a:noFill/>
          </a:ln>
        </p:spPr>
      </p:pic>
      <p:sp>
        <p:nvSpPr>
          <p:cNvPr id="68" name="Google Shape;68;g3d0b0f9e073_0_2"/>
          <p:cNvSpPr txBox="1"/>
          <p:nvPr/>
        </p:nvSpPr>
        <p:spPr>
          <a:xfrm>
            <a:off x="12004425" y="9709813"/>
            <a:ext cx="8960700" cy="1660800"/>
          </a:xfrm>
          <a:prstGeom prst="rect">
            <a:avLst/>
          </a:prstGeom>
          <a:noFill/>
          <a:ln>
            <a:noFill/>
          </a:ln>
        </p:spPr>
        <p:txBody>
          <a:bodyPr anchorCtr="0" anchor="t" bIns="87025" lIns="87025" spcFirstLastPara="1" rIns="87025" wrap="square" tIns="87025">
            <a:spAutoFit/>
          </a:bodyPr>
          <a:lstStyle/>
          <a:p>
            <a:pPr indent="0" lvl="0" marL="0" rtl="0" algn="l">
              <a:spcBef>
                <a:spcPts val="0"/>
              </a:spcBef>
              <a:spcAft>
                <a:spcPts val="0"/>
              </a:spcAft>
              <a:buNone/>
            </a:pPr>
            <a:r>
              <a:rPr b="1" lang="en-US" sz="2094">
                <a:solidFill>
                  <a:schemeClr val="dk1"/>
                </a:solidFill>
              </a:rPr>
              <a:t>Knowledge Graph</a:t>
            </a:r>
            <a:endParaRPr b="1" sz="2094">
              <a:solidFill>
                <a:schemeClr val="dk1"/>
              </a:solidFill>
            </a:endParaRPr>
          </a:p>
          <a:p>
            <a:pPr indent="0" lvl="0" marL="0" rtl="0" algn="l">
              <a:spcBef>
                <a:spcPts val="0"/>
              </a:spcBef>
              <a:spcAft>
                <a:spcPts val="0"/>
              </a:spcAft>
              <a:buNone/>
            </a:pPr>
            <a:r>
              <a:t/>
            </a:r>
            <a:endParaRPr sz="1047">
              <a:solidFill>
                <a:schemeClr val="dk1"/>
              </a:solidFill>
            </a:endParaRPr>
          </a:p>
          <a:p>
            <a:pPr indent="0" lvl="0" marL="0" rtl="0" algn="l">
              <a:spcBef>
                <a:spcPts val="0"/>
              </a:spcBef>
              <a:spcAft>
                <a:spcPts val="0"/>
              </a:spcAft>
              <a:buNone/>
            </a:pPr>
            <a:r>
              <a:rPr lang="en-US" sz="2094">
                <a:solidFill>
                  <a:schemeClr val="dk1"/>
                </a:solidFill>
              </a:rPr>
              <a:t>Entities: Person, Location, Evidence, Timestamp, Event, Alibi, Fact</a:t>
            </a:r>
            <a:endParaRPr sz="2094">
              <a:solidFill>
                <a:schemeClr val="dk1"/>
              </a:solidFill>
            </a:endParaRPr>
          </a:p>
          <a:p>
            <a:pPr indent="0" lvl="0" marL="0" rtl="0" algn="l">
              <a:spcBef>
                <a:spcPts val="0"/>
              </a:spcBef>
              <a:spcAft>
                <a:spcPts val="0"/>
              </a:spcAft>
              <a:buNone/>
            </a:pPr>
            <a:r>
              <a:t/>
            </a:r>
            <a:endParaRPr sz="100">
              <a:solidFill>
                <a:schemeClr val="dk1"/>
              </a:solidFill>
            </a:endParaRPr>
          </a:p>
          <a:p>
            <a:pPr indent="0" lvl="0" marL="0" rtl="0" algn="l">
              <a:spcBef>
                <a:spcPts val="0"/>
              </a:spcBef>
              <a:spcAft>
                <a:spcPts val="0"/>
              </a:spcAft>
              <a:buNone/>
            </a:pPr>
            <a:r>
              <a:rPr lang="en-US" sz="2094">
                <a:solidFill>
                  <a:schemeClr val="dk1"/>
                </a:solidFill>
              </a:rPr>
              <a:t>Relationships: WAS_AT, FOUND_AT, IMPLICATES, OCCURRED_AT, PRECEDES, CONNECTED_TO, CONTRADICTS</a:t>
            </a:r>
            <a:endParaRPr sz="476"/>
          </a:p>
        </p:txBody>
      </p:sp>
      <p:sp>
        <p:nvSpPr>
          <p:cNvPr id="69" name="Google Shape;69;g3d0b0f9e073_0_2"/>
          <p:cNvSpPr txBox="1"/>
          <p:nvPr/>
        </p:nvSpPr>
        <p:spPr>
          <a:xfrm>
            <a:off x="12004413" y="20321263"/>
            <a:ext cx="8960700" cy="1338600"/>
          </a:xfrm>
          <a:prstGeom prst="rect">
            <a:avLst/>
          </a:prstGeom>
          <a:noFill/>
          <a:ln>
            <a:noFill/>
          </a:ln>
        </p:spPr>
        <p:txBody>
          <a:bodyPr anchorCtr="0" anchor="t" bIns="87025" lIns="87025" spcFirstLastPara="1" rIns="87025" wrap="square" tIns="87025">
            <a:spAutoFit/>
          </a:bodyPr>
          <a:lstStyle/>
          <a:p>
            <a:pPr indent="0" lvl="0" marL="0" rtl="0" algn="l">
              <a:spcBef>
                <a:spcPts val="0"/>
              </a:spcBef>
              <a:spcAft>
                <a:spcPts val="0"/>
              </a:spcAft>
              <a:buNone/>
            </a:pPr>
            <a:r>
              <a:rPr b="1" lang="en-US" sz="2094">
                <a:solidFill>
                  <a:schemeClr val="dk1"/>
                </a:solidFill>
              </a:rPr>
              <a:t>Temporal</a:t>
            </a:r>
            <a:r>
              <a:rPr b="1" lang="en-US" sz="2094">
                <a:solidFill>
                  <a:schemeClr val="dk1"/>
                </a:solidFill>
              </a:rPr>
              <a:t> Graph</a:t>
            </a:r>
            <a:endParaRPr b="1" sz="2094">
              <a:solidFill>
                <a:schemeClr val="dk1"/>
              </a:solidFill>
            </a:endParaRPr>
          </a:p>
          <a:p>
            <a:pPr indent="0" lvl="0" marL="0" rtl="0" algn="l">
              <a:spcBef>
                <a:spcPts val="0"/>
              </a:spcBef>
              <a:spcAft>
                <a:spcPts val="0"/>
              </a:spcAft>
              <a:buNone/>
            </a:pPr>
            <a:r>
              <a:t/>
            </a:r>
            <a:endParaRPr sz="1047">
              <a:solidFill>
                <a:schemeClr val="dk1"/>
              </a:solidFill>
            </a:endParaRPr>
          </a:p>
          <a:p>
            <a:pPr indent="0" lvl="0" marL="0" rtl="0" algn="l">
              <a:spcBef>
                <a:spcPts val="0"/>
              </a:spcBef>
              <a:spcAft>
                <a:spcPts val="0"/>
              </a:spcAft>
              <a:buNone/>
            </a:pPr>
            <a:r>
              <a:rPr lang="en-US" sz="2094">
                <a:solidFill>
                  <a:schemeClr val="dk1"/>
                </a:solidFill>
              </a:rPr>
              <a:t>Entities: Event, Person</a:t>
            </a:r>
            <a:endParaRPr sz="2094">
              <a:solidFill>
                <a:schemeClr val="dk1"/>
              </a:solidFill>
            </a:endParaRPr>
          </a:p>
          <a:p>
            <a:pPr indent="0" lvl="0" marL="0" rtl="0" algn="l">
              <a:spcBef>
                <a:spcPts val="0"/>
              </a:spcBef>
              <a:spcAft>
                <a:spcPts val="0"/>
              </a:spcAft>
              <a:buNone/>
            </a:pPr>
            <a:r>
              <a:t/>
            </a:r>
            <a:endParaRPr sz="100">
              <a:solidFill>
                <a:schemeClr val="dk1"/>
              </a:solidFill>
            </a:endParaRPr>
          </a:p>
          <a:p>
            <a:pPr indent="0" lvl="0" marL="0" rtl="0" algn="l">
              <a:spcBef>
                <a:spcPts val="0"/>
              </a:spcBef>
              <a:spcAft>
                <a:spcPts val="0"/>
              </a:spcAft>
              <a:buNone/>
            </a:pPr>
            <a:r>
              <a:rPr lang="en-US" sz="2094">
                <a:solidFill>
                  <a:schemeClr val="dk1"/>
                </a:solidFill>
              </a:rPr>
              <a:t>Relationships: INVOLVED_IN, SAME_TIME_AS, BEFORE</a:t>
            </a:r>
            <a:endParaRPr sz="476"/>
          </a:p>
        </p:txBody>
      </p:sp>
      <p:grpSp>
        <p:nvGrpSpPr>
          <p:cNvPr id="70" name="Google Shape;70;g3d0b0f9e073_0_2"/>
          <p:cNvGrpSpPr/>
          <p:nvPr/>
        </p:nvGrpSpPr>
        <p:grpSpPr>
          <a:xfrm>
            <a:off x="927525" y="9170921"/>
            <a:ext cx="10521001" cy="1983269"/>
            <a:chOff x="927525" y="8997525"/>
            <a:chExt cx="10521001" cy="1338600"/>
          </a:xfrm>
        </p:grpSpPr>
        <p:pic>
          <p:nvPicPr>
            <p:cNvPr descr="Border, word balloon (Provided by Getty Images)" id="71" name="Google Shape;71;g3d0b0f9e073_0_2"/>
            <p:cNvPicPr preferRelativeResize="0"/>
            <p:nvPr/>
          </p:nvPicPr>
          <p:blipFill>
            <a:blip r:embed="rId5">
              <a:alphaModFix/>
            </a:blip>
            <a:stretch>
              <a:fillRect/>
            </a:stretch>
          </p:blipFill>
          <p:spPr>
            <a:xfrm>
              <a:off x="927525" y="8997525"/>
              <a:ext cx="10521001" cy="1338600"/>
            </a:xfrm>
            <a:prstGeom prst="rect">
              <a:avLst/>
            </a:prstGeom>
            <a:noFill/>
            <a:ln>
              <a:noFill/>
            </a:ln>
          </p:spPr>
        </p:pic>
        <p:sp>
          <p:nvSpPr>
            <p:cNvPr id="72" name="Google Shape;72;g3d0b0f9e073_0_2"/>
            <p:cNvSpPr txBox="1"/>
            <p:nvPr/>
          </p:nvSpPr>
          <p:spPr>
            <a:xfrm>
              <a:off x="2424375" y="9295917"/>
              <a:ext cx="7527300" cy="54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00">
                  <a:solidFill>
                    <a:schemeClr val="accent4"/>
                  </a:solidFill>
                </a:rPr>
                <a:t>Can AI bots solve crime?</a:t>
              </a:r>
              <a:endParaRPr b="1" sz="4000">
                <a:solidFill>
                  <a:schemeClr val="accent4"/>
                </a:solidFill>
              </a:endParaRPr>
            </a:p>
          </p:txBody>
        </p:sp>
      </p:grpSp>
      <p:sp>
        <p:nvSpPr>
          <p:cNvPr id="73" name="Google Shape;73;g3d0b0f9e073_0_2"/>
          <p:cNvSpPr txBox="1"/>
          <p:nvPr/>
        </p:nvSpPr>
        <p:spPr>
          <a:xfrm>
            <a:off x="21406302" y="15378650"/>
            <a:ext cx="6206400" cy="467400"/>
          </a:xfrm>
          <a:prstGeom prst="rect">
            <a:avLst/>
          </a:prstGeom>
          <a:noFill/>
          <a:ln>
            <a:noFill/>
          </a:ln>
        </p:spPr>
        <p:txBody>
          <a:bodyPr anchorCtr="0" anchor="t" bIns="87025" lIns="87025" spcFirstLastPara="1" rIns="87025" wrap="square" tIns="87025">
            <a:spAutoFit/>
          </a:bodyPr>
          <a:lstStyle/>
          <a:p>
            <a:pPr indent="0" lvl="0" marL="0" rtl="0" algn="l">
              <a:spcBef>
                <a:spcPts val="0"/>
              </a:spcBef>
              <a:spcAft>
                <a:spcPts val="0"/>
              </a:spcAft>
              <a:buNone/>
            </a:pPr>
            <a:r>
              <a:rPr b="1" lang="en-US" sz="1894">
                <a:solidFill>
                  <a:schemeClr val="dk1"/>
                </a:solidFill>
              </a:rPr>
              <a:t>Fine-tuned training and validation accuracy</a:t>
            </a:r>
            <a:endParaRPr sz="276"/>
          </a:p>
        </p:txBody>
      </p:sp>
      <p:pic>
        <p:nvPicPr>
          <p:cNvPr id="74" name="Google Shape;74;g3d0b0f9e073_0_2"/>
          <p:cNvPicPr preferRelativeResize="0"/>
          <p:nvPr/>
        </p:nvPicPr>
        <p:blipFill rotWithShape="1">
          <a:blip r:embed="rId6">
            <a:alphaModFix/>
          </a:blip>
          <a:srcRect b="24896" l="10385" r="3579" t="22019"/>
          <a:stretch/>
        </p:blipFill>
        <p:spPr>
          <a:xfrm>
            <a:off x="11600925" y="11540579"/>
            <a:ext cx="9516600" cy="8783471"/>
          </a:xfrm>
          <a:prstGeom prst="rect">
            <a:avLst/>
          </a:prstGeom>
          <a:noFill/>
          <a:ln>
            <a:noFill/>
          </a:ln>
        </p:spPr>
      </p:pic>
      <p:pic>
        <p:nvPicPr>
          <p:cNvPr id="75" name="Google Shape;75;g3d0b0f9e073_0_2" title="Gemini_Generated_Image_eskmaneskmaneskm.png"/>
          <p:cNvPicPr preferRelativeResize="0"/>
          <p:nvPr/>
        </p:nvPicPr>
        <p:blipFill>
          <a:blip r:embed="rId7">
            <a:alphaModFix/>
          </a:blip>
          <a:stretch>
            <a:fillRect/>
          </a:stretch>
        </p:blipFill>
        <p:spPr>
          <a:xfrm>
            <a:off x="21494225" y="12544432"/>
            <a:ext cx="5735654" cy="2834210"/>
          </a:xfrm>
          <a:prstGeom prst="rect">
            <a:avLst/>
          </a:prstGeom>
          <a:noFill/>
          <a:ln>
            <a:noFill/>
          </a:ln>
        </p:spPr>
      </p:pic>
      <p:pic>
        <p:nvPicPr>
          <p:cNvPr id="76" name="Google Shape;76;g3d0b0f9e073_0_2"/>
          <p:cNvPicPr preferRelativeResize="0"/>
          <p:nvPr/>
        </p:nvPicPr>
        <p:blipFill rotWithShape="1">
          <a:blip r:embed="rId8">
            <a:alphaModFix/>
          </a:blip>
          <a:srcRect b="5245" l="3670" r="0" t="6298"/>
          <a:stretch/>
        </p:blipFill>
        <p:spPr>
          <a:xfrm>
            <a:off x="27385463" y="12544432"/>
            <a:ext cx="4629762" cy="2834219"/>
          </a:xfrm>
          <a:prstGeom prst="rect">
            <a:avLst/>
          </a:prstGeom>
          <a:noFill/>
          <a:ln cap="flat" cmpd="sng" w="9525">
            <a:solidFill>
              <a:srgbClr val="FF6234"/>
            </a:solidFill>
            <a:prstDash val="solid"/>
            <a:round/>
            <a:headEnd len="sm" w="sm" type="none"/>
            <a:tailEnd len="sm" w="sm" type="none"/>
          </a:ln>
        </p:spPr>
      </p:pic>
      <p:sp>
        <p:nvSpPr>
          <p:cNvPr id="77" name="Google Shape;77;g3d0b0f9e073_0_2"/>
          <p:cNvSpPr txBox="1"/>
          <p:nvPr/>
        </p:nvSpPr>
        <p:spPr>
          <a:xfrm>
            <a:off x="27282898" y="15378650"/>
            <a:ext cx="6206400" cy="467400"/>
          </a:xfrm>
          <a:prstGeom prst="rect">
            <a:avLst/>
          </a:prstGeom>
          <a:noFill/>
          <a:ln>
            <a:noFill/>
          </a:ln>
        </p:spPr>
        <p:txBody>
          <a:bodyPr anchorCtr="0" anchor="t" bIns="87025" lIns="87025" spcFirstLastPara="1" rIns="87025" wrap="square" tIns="87025">
            <a:spAutoFit/>
          </a:bodyPr>
          <a:lstStyle/>
          <a:p>
            <a:pPr indent="0" lvl="0" marL="0" rtl="0" algn="l">
              <a:spcBef>
                <a:spcPts val="0"/>
              </a:spcBef>
              <a:spcAft>
                <a:spcPts val="0"/>
              </a:spcAft>
              <a:buNone/>
            </a:pPr>
            <a:r>
              <a:rPr b="1" lang="en-US" sz="1894">
                <a:solidFill>
                  <a:schemeClr val="dk1"/>
                </a:solidFill>
              </a:rPr>
              <a:t>Self-assessed confidence level by model</a:t>
            </a:r>
            <a:endParaRPr sz="276"/>
          </a:p>
        </p:txBody>
      </p:sp>
      <p:sp>
        <p:nvSpPr>
          <p:cNvPr id="78" name="Google Shape;78;g3d0b0f9e073_0_2"/>
          <p:cNvSpPr txBox="1"/>
          <p:nvPr/>
        </p:nvSpPr>
        <p:spPr>
          <a:xfrm>
            <a:off x="892175" y="19498325"/>
            <a:ext cx="10663200" cy="169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50">
                <a:solidFill>
                  <a:srgbClr val="A5D6FF"/>
                </a:solidFill>
                <a:highlight>
                  <a:srgbClr val="121314"/>
                </a:highlight>
                <a:latin typeface="Courier New"/>
                <a:ea typeface="Courier New"/>
                <a:cs typeface="Courier New"/>
                <a:sym typeface="Courier New"/>
              </a:rPr>
              <a:t>Your goal is to solve the case. Use your knowledge to your advantage.</a:t>
            </a:r>
            <a:endParaRPr b="1" sz="1750">
              <a:solidFill>
                <a:srgbClr val="A5D6FF"/>
              </a:solidFill>
              <a:highlight>
                <a:srgbClr val="121314"/>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US" sz="1750">
                <a:solidFill>
                  <a:srgbClr val="A5D6FF"/>
                </a:solidFill>
                <a:highlight>
                  <a:srgbClr val="121314"/>
                </a:highlight>
                <a:latin typeface="Courier New"/>
                <a:ea typeface="Courier New"/>
                <a:cs typeface="Courier New"/>
                <a:sym typeface="Courier New"/>
              </a:rPr>
              <a:t>In your response, include at the very end your current postulation for who/what the culprit may be (name/title only),</a:t>
            </a:r>
            <a:endParaRPr b="1" sz="1750">
              <a:solidFill>
                <a:srgbClr val="A5D6FF"/>
              </a:solidFill>
              <a:highlight>
                <a:srgbClr val="121314"/>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US" sz="1750">
                <a:solidFill>
                  <a:srgbClr val="A5D6FF"/>
                </a:solidFill>
                <a:highlight>
                  <a:srgbClr val="121314"/>
                </a:highlight>
                <a:latin typeface="Courier New"/>
                <a:ea typeface="Courier New"/>
                <a:cs typeface="Courier New"/>
                <a:sym typeface="Courier New"/>
              </a:rPr>
              <a:t>a confidence level (0.0 to 1.0) indicating how sure you are about this theory.</a:t>
            </a:r>
            <a:endParaRPr b="1" sz="1750">
              <a:solidFill>
                <a:srgbClr val="A5D6FF"/>
              </a:solidFill>
              <a:highlight>
                <a:srgbClr val="121314"/>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US" sz="1750">
                <a:solidFill>
                  <a:srgbClr val="A5D6FF"/>
                </a:solidFill>
                <a:highlight>
                  <a:srgbClr val="121314"/>
                </a:highlight>
                <a:latin typeface="Courier New"/>
                <a:ea typeface="Courier New"/>
                <a:cs typeface="Courier New"/>
                <a:sym typeface="Courier New"/>
              </a:rPr>
              <a:t>Example format: Culprit_Name 0.75</a:t>
            </a:r>
            <a:endParaRPr b="1" sz="1750"/>
          </a:p>
        </p:txBody>
      </p:sp>
      <p:sp>
        <p:nvSpPr>
          <p:cNvPr id="79" name="Google Shape;79;g3d0b0f9e073_0_2"/>
          <p:cNvSpPr txBox="1"/>
          <p:nvPr/>
        </p:nvSpPr>
        <p:spPr>
          <a:xfrm>
            <a:off x="927527" y="21192475"/>
            <a:ext cx="6206400" cy="467400"/>
          </a:xfrm>
          <a:prstGeom prst="rect">
            <a:avLst/>
          </a:prstGeom>
          <a:noFill/>
          <a:ln>
            <a:noFill/>
          </a:ln>
        </p:spPr>
        <p:txBody>
          <a:bodyPr anchorCtr="0" anchor="t" bIns="87025" lIns="87025" spcFirstLastPara="1" rIns="87025" wrap="square" tIns="87025">
            <a:spAutoFit/>
          </a:bodyPr>
          <a:lstStyle/>
          <a:p>
            <a:pPr indent="0" lvl="0" marL="0" rtl="0" algn="l">
              <a:spcBef>
                <a:spcPts val="0"/>
              </a:spcBef>
              <a:spcAft>
                <a:spcPts val="0"/>
              </a:spcAft>
              <a:buNone/>
            </a:pPr>
            <a:r>
              <a:rPr b="1" lang="en-US" sz="1894">
                <a:solidFill>
                  <a:schemeClr val="dk1"/>
                </a:solidFill>
              </a:rPr>
              <a:t>Snippet of instructions prompted to LLMs</a:t>
            </a:r>
            <a:endParaRPr sz="276"/>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